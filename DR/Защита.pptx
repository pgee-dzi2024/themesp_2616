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01" r:id="rId5"/>
    <p:sldId id="261" r:id="rId6"/>
    <p:sldId id="279" r:id="rId7"/>
    <p:sldId id="276" r:id="rId8"/>
    <p:sldId id="293" r:id="rId9"/>
    <p:sldId id="268" r:id="rId10"/>
    <p:sldId id="269" r:id="rId11"/>
    <p:sldId id="300" r:id="rId12"/>
    <p:sldId id="295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1" autoAdjust="0"/>
    <p:restoredTop sz="81702" autoAdjust="0"/>
  </p:normalViewPr>
  <p:slideViewPr>
    <p:cSldViewPr snapToGrid="0" showGuides="1">
      <p:cViewPr varScale="1">
        <p:scale>
          <a:sx n="103" d="100"/>
          <a:sy n="103" d="100"/>
        </p:scale>
        <p:origin x="1074" y="126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Уважаема г-жо Директор,  Уважаема комисия.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Аз съм Рафие Молла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bg-BG" sz="3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Темата на моя дипломен проект е </a:t>
            </a:r>
            <a:r>
              <a:rPr kumimoji="0" lang="ru-RU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Система за компютърна сигурност чрез близост (Proximity Lock). </a:t>
            </a:r>
            <a:endParaRPr kumimoji="0" lang="bg-BG" sz="36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0301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Основната цел на проекта е създаването на система за компютърна сигурност чрез близост (Proximity Lock), която автоматично заключва компютъра при отдалечаване на потребителя и го отключва при неговото завръщане.</a:t>
            </a:r>
          </a:p>
          <a:p>
            <a:r>
              <a:rPr lang="ru-RU" dirty="0" smtClean="0"/>
              <a:t> За постигането на тази цел първоначално извърших анализ на компютърната сигурност и заплахите, като разгледах</a:t>
            </a:r>
            <a:r>
              <a:rPr lang="ru-RU" baseline="0" dirty="0" smtClean="0"/>
              <a:t> </a:t>
            </a:r>
            <a:r>
              <a:rPr lang="ru-RU" dirty="0" smtClean="0"/>
              <a:t>основните рискове и уязвимости в системите, както и възможностите за тяхното предотвратяване. След това изследвах</a:t>
            </a:r>
            <a:r>
              <a:rPr lang="ru-RU" baseline="0" dirty="0" smtClean="0"/>
              <a:t> </a:t>
            </a:r>
            <a:r>
              <a:rPr lang="ru-RU" dirty="0" smtClean="0"/>
              <a:t>различните методи за автентикация с цел намиране на по-надеждни начини за удостоверяване на потребителя. В рамките на проекта направих проучване на Bluetooth технологията, като анализирах нейните принципи на работа и възможностите ѝ за определяне на близост между устройства. На тази основа разработих софтуерен прототип, който реализира основната функционалност на системата. </a:t>
            </a:r>
            <a:endParaRPr lang="bg-BG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239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Основите на компютърната сигурност са свързани със защитата на системите и информацията от неоторизиран достъп и различни заплахи. Тя обхваща различни методи и технологии, които имат за цел да предпазят данните и устройствата от атаки и злоупотреби. В основата ѝ стои моделът CIA, който включва конфиденциалност, цялостност и наличност на информацията. Сигурността може да бъде както физическа</a:t>
            </a:r>
            <a:r>
              <a:rPr lang="en-US" baseline="0" dirty="0" smtClean="0"/>
              <a:t> - </a:t>
            </a:r>
            <a:r>
              <a:rPr lang="ru-RU" dirty="0" smtClean="0"/>
              <a:t>свързана със защитата на самото устройство, така и логическа – чрез софтуерни решения като пароли и защити. В рамките на моя проект това се прилага чрез автоматично заключване на компютъра, когато потребителят се отдалечи, което помага да се предотврати неоторизиран достъп.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Заплахите за компютърните системи могат да доведат до кражба, загуба или повреждане на информация. Най-често срещаните са Malware, фишинг атаки и неоторизиран достъп. Те могат да бъдат причинени както от технически проблеми, така и от човешки грешки. Съществуват и физически заплахи като кражба на устройства, пожар или повреда на хардуера.</a:t>
            </a:r>
          </a:p>
          <a:p>
            <a:r>
              <a:rPr lang="ru-RU" dirty="0" smtClean="0"/>
              <a:t>Компютърните системи са изложени на различни рискове като зловреден софтуер, хакерски атаки, кражба на данни и неоторизиран физически достъп до устройствата. За да се осигури по-добра защита, сигурността се разделя на два основни вида – физическа и логическа. Физическата сигурност е свързана със защитата на хардуера чрез мерки като контрол на достъпа и видеонаблюдение, докато логическата сигурност включва софтуерни решения като пароли и криптиране. Най-ефективна защита се постига, когато тези два вида сигурност се комбинират и работят </a:t>
            </a:r>
            <a:r>
              <a:rPr lang="ru-RU" dirty="0" smtClean="0"/>
              <a:t>заедно.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Автентикацията е начинът, по който системата проверява дали потребителят е този, за когото се представя. Това става чрез три основни неща – нещо, което знае (като парола), нещо, </a:t>
            </a:r>
            <a:r>
              <a:rPr lang="ru-RU" smtClean="0"/>
              <a:t>което </a:t>
            </a:r>
            <a:r>
              <a:rPr lang="ru-RU" smtClean="0"/>
              <a:t>имаме </a:t>
            </a:r>
            <a:r>
              <a:rPr lang="ru-RU" dirty="0" smtClean="0"/>
              <a:t>(например телефон или токен) и нещо, което е (като пръстов отпечатък или лице). Когато се използват повече от един от тези фактори, се получава по-сигурен метод, наречен многофакторна автентикация. Токените допълнително повишават сигурността, защото могат да генерират временни кодове или да показват, че потребителят наистина е наблизо.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Proximity Lock системите работят на принципа на близост между потребителя и устройството. Когато човекът се отдалечи от компютъра или другото защитено устройство, системата автоматично го заключва, без да е нужно ръчно действие. А когато потребителят се върне обратно в обхвата, устройството може да се отключи отново.</a:t>
            </a:r>
          </a:p>
          <a:p>
            <a:r>
              <a:rPr lang="ru-RU" dirty="0" smtClean="0"/>
              <a:t>Този тип защита има няколко важни предимства. Първо, тя автоматизира сигурността и така не зависи изцяло от това дали човек ще заключи устройството си. Второ, намалява се рискът от човешки грешки, като например забравено отключено устройство. И трето, осигурява по-високо ниво на защита, особено когато става дума за физически достъп до компютри и чувствителна информация.</a:t>
            </a:r>
          </a:p>
          <a:p>
            <a:r>
              <a:rPr lang="ru-RU" dirty="0" smtClean="0"/>
              <a:t>Като цяло, това е удобен и надежден начин за по-добра сигурност в ежедневната работа с устройства.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95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Bluetooth е безжична технология, която позволява устройства да се свързват и обменят информация на близко разстояние. Тя работи в честотния диапазон около 2.4 GHz и се използва в много ежедневни устройства като слушалки, телефони, компютри и други.</a:t>
            </a:r>
          </a:p>
          <a:p>
            <a:r>
              <a:rPr lang="ru-RU" dirty="0" smtClean="0"/>
              <a:t>По-нов вариант на тази технология е Bluetooth Low Energy (BLE). Той е създаден така, че да използва много по-малко енергия, което го прави подходящ за устройства, които трябва да работят дълго време с батерия. BLE се използва най-често за кратки връзки и бърз обмен на данни, вместо за постоянна комуникация.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160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Системата е съставена от две основни части – хардуерна и софтуерна. Като хардуер се използва Bluetooth токен, който е реализиран чрез Arduino устройство, а от софтуерна страна е разработена програма на Python, която управлява целия процес.</a:t>
            </a:r>
          </a:p>
          <a:p>
            <a:r>
              <a:rPr lang="ru-RU" dirty="0" smtClean="0"/>
              <a:t>Основната идея на системата е да се следи силата на Bluetooth сигнала (RSSI). Чрез нея се прави приблизителна преценка на разстоянието между потребителя и компютъра. Ако сигналът отслабне, това означава, че човекът се отдалечава, а ако се засили – че се приближава.</a:t>
            </a:r>
          </a:p>
          <a:p>
            <a:r>
              <a:rPr lang="ru-RU" dirty="0" smtClean="0"/>
              <a:t>Въз основа на тези данни е създаден алгоритъм, който взема автоматично решения кога устройството да се заключи и кога да се отключи. Така системата работи интелигентно и осигурява автоматична защита според присъствието на потребителя.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5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ru-RU" dirty="0" smtClean="0"/>
              <a:t>В процеса на реализация е изграден работещ прототип, който работи във фонов режим, без да пречи на нормалната работа на компютъра. Системата е съставена от няколко основни компонента, които заедно осигуряват нейното функциониране.</a:t>
            </a:r>
          </a:p>
          <a:p>
            <a:r>
              <a:rPr lang="ru-RU" dirty="0" smtClean="0"/>
              <a:t>Един от тях е BLE Scanner, който открива и следи Bluetooth устройството. Освен това се използва конфигурационен файл (config.ini), в който се задават различни настройки на системата. Важна част е и алгоритъмът, който обработва получените сигнали и взема решения на тяхна база.</a:t>
            </a:r>
          </a:p>
          <a:p>
            <a:r>
              <a:rPr lang="ru-RU" dirty="0" smtClean="0"/>
              <a:t>По време на разработката е възникнал проблем с нестабилния Bluetooth сигнал, който понякога е водел до грешни действия. За да се реши това, е приложен метод (Moving Average), който изглажда колебанията в сигнала, както и таймаут механизъм, който предотвратява прибързани реакции.</a:t>
            </a:r>
          </a:p>
          <a:p>
            <a:r>
              <a:rPr lang="ru-RU" dirty="0" smtClean="0"/>
              <a:t>Благодарение на тези решения системата става по-стабилна и се избягват фалшиви заключвания или отключвания.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en-US" altLang="zh-CN" noProof="0" dirty="0"/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en-US" altLang="zh-CN" noProof="0" dirty="0"/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en-US" altLang="zh-CN" noProof="0" dirty="0"/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</a:t>
            </a:r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en-US" altLang="zh-CN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73" r:id="rId10"/>
    <p:sldLayoutId id="2147483653" r:id="rId11"/>
    <p:sldLayoutId id="2147483663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189" y="88233"/>
            <a:ext cx="8061157" cy="1050756"/>
          </a:xfrm>
        </p:spPr>
        <p:txBody>
          <a:bodyPr lIns="0" anchor="b" anchorCtr="0">
            <a:normAutofit fontScale="90000"/>
          </a:bodyPr>
          <a:lstStyle/>
          <a:p>
            <a:r>
              <a:rPr lang="ru-RU" sz="2000" b="0" dirty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  <a:t>Държавен изпит за придобиване на трета степен на </a:t>
            </a:r>
            <a:r>
              <a:rPr lang="ru-RU" sz="2000" b="0" dirty="0" smtClean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  <a:t>професионална </a:t>
            </a:r>
            <a:r>
              <a:rPr lang="ru-RU" sz="2000" b="0" dirty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  <a:t>квалификация – част по теория на професията</a:t>
            </a:r>
            <a:br>
              <a:rPr lang="ru-RU" sz="2000" b="0" dirty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</a:br>
            <a:r>
              <a:rPr lang="ru-RU" sz="2000" b="0" dirty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  <a:t>по професия код 481020   „Системен програмист“</a:t>
            </a:r>
            <a:br>
              <a:rPr lang="ru-RU" sz="2000" b="0" dirty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</a:br>
            <a:r>
              <a:rPr lang="ru-RU" sz="2000" b="0" dirty="0">
                <a:solidFill>
                  <a:srgbClr val="FFFFFF"/>
                </a:solidFill>
                <a:latin typeface="Century Schoolbook" panose="02040604050505020304"/>
                <a:ea typeface="+mn-ea"/>
                <a:cs typeface="+mn-cs"/>
              </a:rPr>
              <a:t>специалност код 4810201  „Системно програмиране“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04421" y="6545179"/>
            <a:ext cx="2887579" cy="312821"/>
          </a:xfrm>
        </p:spPr>
        <p:txBody>
          <a:bodyPr>
            <a:normAutofit fontScale="85000" lnSpcReduction="20000"/>
          </a:bodyPr>
          <a:lstStyle/>
          <a:p>
            <a:r>
              <a:rPr lang="bg-BG" dirty="0" smtClean="0"/>
              <a:t>Дипломант</a:t>
            </a:r>
            <a:r>
              <a:rPr lang="en-US" dirty="0" smtClean="0"/>
              <a:t>:</a:t>
            </a:r>
            <a:r>
              <a:rPr lang="bg-BG" dirty="0" smtClean="0"/>
              <a:t> Рафие Молла</a:t>
            </a:r>
            <a:endParaRPr lang="en-US" dirty="0"/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1012" r="21012"/>
          <a:stretch>
            <a:fillRect/>
          </a:stretch>
        </p:blipFill>
        <p:spPr>
          <a:xfrm>
            <a:off x="7039029" y="1294872"/>
            <a:ext cx="3895538" cy="447988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/>
          <p:cNvSpPr/>
          <p:nvPr/>
        </p:nvSpPr>
        <p:spPr>
          <a:xfrm>
            <a:off x="1183708" y="4058654"/>
            <a:ext cx="35406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rgbClr val="FFFFFF"/>
                </a:solidFill>
                <a:latin typeface="Century Schoolbook" panose="02040604050505020304"/>
              </a:rPr>
              <a:t>Тема: Система за компютърна сигурност чрез близост (Proximity Lock</a:t>
            </a:r>
            <a:r>
              <a:rPr lang="ru-RU" dirty="0" smtClean="0">
                <a:solidFill>
                  <a:srgbClr val="FFFFFF"/>
                </a:solidFill>
                <a:latin typeface="Century Schoolbook" panose="02040604050505020304"/>
              </a:rPr>
              <a:t>) </a:t>
            </a:r>
            <a:endParaRPr lang="bg-BG" dirty="0">
              <a:solidFill>
                <a:srgbClr val="FFFFFF"/>
              </a:solidFill>
              <a:latin typeface="Century Schoolbook" panose="020406040505050203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31" y="116631"/>
            <a:ext cx="831158" cy="102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build="p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80" y="1377559"/>
            <a:ext cx="5377166" cy="1314270"/>
          </a:xfrm>
          <a:noFill/>
        </p:spPr>
        <p:txBody>
          <a:bodyPr anchor="t" anchorCtr="0">
            <a:noAutofit/>
          </a:bodyPr>
          <a:lstStyle/>
          <a:p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</a:rPr>
              <a:t>Цел и задачи </a:t>
            </a:r>
            <a:r>
              <a:rPr lang="bg-BG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на проекта</a:t>
            </a:r>
            <a:r>
              <a:rPr lang="bg-BG" b="0" dirty="0" smtClean="0">
                <a:solidFill>
                  <a:srgbClr val="FFFFFF"/>
                </a:solidFill>
              </a:rPr>
              <a:t/>
            </a:r>
            <a:br>
              <a:rPr lang="bg-BG" b="0" dirty="0" smtClean="0">
                <a:solidFill>
                  <a:srgbClr val="FFFFFF"/>
                </a:solidFill>
              </a:rPr>
            </a:br>
            <a:r>
              <a:rPr lang="bg-BG" b="0" dirty="0">
                <a:solidFill>
                  <a:srgbClr val="FFFFFF"/>
                </a:solidFill>
              </a:rPr>
              <a:t/>
            </a:r>
            <a:br>
              <a:rPr lang="bg-BG" b="0" dirty="0">
                <a:solidFill>
                  <a:srgbClr val="FFFFFF"/>
                </a:solidFill>
              </a:rPr>
            </a:br>
            <a:r>
              <a:rPr lang="bg-BG" b="0" dirty="0" smtClean="0">
                <a:solidFill>
                  <a:srgbClr val="FFFFFF"/>
                </a:solidFill>
              </a:rPr>
              <a:t/>
            </a:r>
            <a:br>
              <a:rPr lang="bg-BG" b="0" dirty="0" smtClean="0">
                <a:solidFill>
                  <a:srgbClr val="FFFFFF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4969" y="2034694"/>
            <a:ext cx="5029200" cy="3383280"/>
          </a:xfrm>
          <a:noFill/>
        </p:spPr>
        <p:txBody>
          <a:bodyPr>
            <a:noAutofit/>
          </a:bodyPr>
          <a:lstStyle/>
          <a:p>
            <a:pPr>
              <a:lnSpc>
                <a:spcPct val="107000"/>
              </a:lnSpc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на компютърната сигурност и заплахите</a:t>
            </a:r>
            <a:endParaRPr lang="ru-RU" sz="24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Изследване на методите за автентикация</a:t>
            </a:r>
            <a:endParaRPr lang="ru-RU" sz="24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Проучване на Bluetooth технологията</a:t>
            </a:r>
            <a:endParaRPr lang="ru-RU" sz="24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Разработване на софтуерен прототип</a:t>
            </a:r>
            <a:endParaRPr lang="ru-RU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478" y="2321047"/>
            <a:ext cx="3021664" cy="622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03" y="154111"/>
            <a:ext cx="7931648" cy="2119559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Основи на компютърната сигурност</a:t>
            </a:r>
            <a: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3</a:t>
            </a:fld>
            <a:endParaRPr lang="en-US" altLang="zh-CN" noProof="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30"/>
          </p:nvPr>
        </p:nvPicPr>
        <p:blipFill>
          <a:blip r:embed="rId3"/>
          <a:stretch>
            <a:fillRect/>
          </a:stretch>
        </p:blipFill>
        <p:spPr>
          <a:xfrm>
            <a:off x="1078787" y="976045"/>
            <a:ext cx="10115382" cy="5352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643" y="328774"/>
            <a:ext cx="4541177" cy="1705509"/>
          </a:xfrm>
        </p:spPr>
        <p:txBody>
          <a:bodyPr anchor="b" anchorCtr="0">
            <a:normAutofit fontScale="90000"/>
          </a:bodyPr>
          <a:lstStyle/>
          <a:p>
            <a:pPr>
              <a:lnSpc>
                <a:spcPct val="107000"/>
              </a:lnSpc>
            </a:pPr>
            <a:r>
              <a:rPr lang="bg-BG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Заплахи </a:t>
            </a:r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видове сигурност</a:t>
            </a:r>
            <a: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337" y="2584978"/>
            <a:ext cx="4147677" cy="2264424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физическа – защита на хардуера (контрол на достъп, камери)</a:t>
            </a:r>
            <a:endParaRPr lang="ru-RU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логическа – защита чрез софтуер (пароли, криптиране)</a:t>
            </a:r>
            <a:endParaRPr lang="ru-RU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54"/>
          </p:nvPr>
        </p:nvPicPr>
        <p:blipFill>
          <a:blip r:embed="rId3"/>
          <a:srcRect l="22664" r="22664"/>
          <a:stretch>
            <a:fillRect/>
          </a:stretch>
        </p:blipFill>
        <p:spPr>
          <a:xfrm>
            <a:off x="6041205" y="654119"/>
            <a:ext cx="5226122" cy="555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582" y="71021"/>
            <a:ext cx="8611339" cy="532660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Автентикация и контрол на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достъпа  </a:t>
            </a:r>
            <a:endParaRPr lang="ru-RU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25" y="841273"/>
            <a:ext cx="8096434" cy="5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701" y="62144"/>
            <a:ext cx="5601809" cy="550415"/>
          </a:xfrm>
          <a:noFill/>
        </p:spPr>
        <p:txBody>
          <a:bodyPr anchor="b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Proximity Lock </a:t>
            </a:r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</a:rPr>
              <a:t>системи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62" y="612559"/>
            <a:ext cx="1009650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741" y="1225119"/>
            <a:ext cx="7671816" cy="603681"/>
          </a:xfrm>
          <a:noFill/>
        </p:spPr>
        <p:txBody>
          <a:bodyPr anchor="b" anchorCtr="0">
            <a:noAutofit/>
          </a:bodyPr>
          <a:lstStyle/>
          <a:p>
            <a:pPr>
              <a:lnSpc>
                <a:spcPct val="107000"/>
              </a:lnSpc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Bluetooth </a:t>
            </a:r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технология 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BLE</a:t>
            </a:r>
            <a:endParaRPr lang="en-US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192" y="1939772"/>
            <a:ext cx="7315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C29-2F05-D7E4-A266-08C74BE4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853" y="0"/>
            <a:ext cx="7007290" cy="1315616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</a:pPr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Проектиране на системата</a:t>
            </a:r>
            <a: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48"/>
          </p:nvPr>
        </p:nvPicPr>
        <p:blipFill>
          <a:blip r:embed="rId3"/>
          <a:srcRect l="6525" r="6525"/>
          <a:stretch>
            <a:fillRect/>
          </a:stretch>
        </p:blipFill>
        <p:spPr>
          <a:xfrm>
            <a:off x="3237723" y="828562"/>
            <a:ext cx="5299788" cy="545261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822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21E73BA-53B9-C0C1-476A-00736A64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35" y="1651519"/>
            <a:ext cx="4609322" cy="1149569"/>
          </a:xfrm>
        </p:spPr>
        <p:txBody>
          <a:bodyPr anchor="b" anchorCtr="0">
            <a:normAutofit fontScale="90000"/>
          </a:bodyPr>
          <a:lstStyle/>
          <a:p>
            <a:pPr>
              <a:lnSpc>
                <a:spcPct val="107000"/>
              </a:lnSpc>
            </a:pPr>
            <a:r>
              <a:rPr lang="bg-B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Реализация и технически решения</a:t>
            </a:r>
            <a: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bg-BG" dirty="0"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888" y="737117"/>
            <a:ext cx="7234873" cy="482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3" id="{B2A09113-D80A-4CEB-84AD-5F3C210546F5}" vid="{897E41CC-BF75-40EB-9A1D-4A51B13B2C3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8BF015-C9F0-46BD-A47D-086FC5BD5D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sharepoint/v3"/>
    <ds:schemaRef ds:uri="230e9df3-be65-4c73-a93b-d1236ebd677e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1141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Abadi</vt:lpstr>
      <vt:lpstr>Arial</vt:lpstr>
      <vt:lpstr>Calibri</vt:lpstr>
      <vt:lpstr>Century Schoolbook</vt:lpstr>
      <vt:lpstr>等线</vt:lpstr>
      <vt:lpstr>Posterama</vt:lpstr>
      <vt:lpstr>Posterama Text SemiBold</vt:lpstr>
      <vt:lpstr>Times New Roman</vt:lpstr>
      <vt:lpstr>Custom</vt:lpstr>
      <vt:lpstr>Държавен изпит за придобиване на трета степен на професионална квалификация – част по теория на професията по професия код 481020   „Системен програмист“ специалност код 4810201  „Системно програмиране“</vt:lpstr>
      <vt:lpstr>Цел и задачи на проекта   </vt:lpstr>
      <vt:lpstr>Основи на компютърната сигурност </vt:lpstr>
      <vt:lpstr>Заплахи и видове сигурност </vt:lpstr>
      <vt:lpstr>Автентикация и контрол на достъпа  </vt:lpstr>
      <vt:lpstr>Proximity Lock системи</vt:lpstr>
      <vt:lpstr> Bluetooth технология и BLE</vt:lpstr>
      <vt:lpstr>Проектиране на системата </vt:lpstr>
      <vt:lpstr>Реализация и технически решения 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2023-09-14T05:46:04Z</dcterms:created>
  <dcterms:modified xsi:type="dcterms:W3CDTF">2026-05-07T07:37:23Z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